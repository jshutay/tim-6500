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384" r:id="rId2"/>
    <p:sldId id="38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7"/>
    <p:restoredTop sz="97438"/>
  </p:normalViewPr>
  <p:slideViewPr>
    <p:cSldViewPr snapToGrid="0" snapToObjects="1">
      <p:cViewPr varScale="1">
        <p:scale>
          <a:sx n="141" d="100"/>
          <a:sy n="141" d="100"/>
        </p:scale>
        <p:origin x="224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D5EB-42C6-224F-B8F8-490E6E14E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06060-DC88-B642-8E4F-3D8EAB751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49FE4-2A48-354D-9C48-42011D7E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9164-42F3-6346-96AB-F3F4AF52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485A-CA16-A64C-886A-5C251E75A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5D8A-3D5A-ED49-BE42-F47621E3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A5914-337B-E04D-B411-2CE649209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0C4EA-5043-A047-BCB2-F970D8009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DF104-A599-C349-9D45-E92ABEC33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B26BA-1F42-7647-B166-BB479065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84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F9FB-3504-1244-A69C-6A590A4EA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28D00-6608-B44F-A1F2-ACC58BDE1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0082C-1E5D-934F-9C2D-FD39D974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E49F0-BA47-6944-B850-1C60DD20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E1D95-CF9B-1B45-AA36-D0546166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9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72954-7B0B-B545-AEBB-A8252293B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8BB46-DC0D-4745-8EC3-E10FA0525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51A0C-1049-D641-9E52-1FAEA4115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627CB-AEE6-994D-BE87-E1EC2C8F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B8AF1-1565-6E46-BA02-7228F868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D874D-3A00-CF41-8BA3-92312617C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DB6A-56C6-7A4A-AE2A-BA8869C9F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89C8C-91DD-C848-97DC-25AE2EFF7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01EB6-6009-9E49-9A7B-4E05F1826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BEDD3-C69A-7F42-B71B-CC8FE983A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E6E48-3317-9B40-96D6-BB1EC8716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19B54-5AAF-CD4E-BF3D-BED043CE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98E82A-A61A-6048-91F4-0BB67FE5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9F358-5CFD-4B4B-B4A7-E4EB331D4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6FF7-9750-CE4C-8551-0458D3D5F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500DD9-A5C5-E242-9522-A0EE2628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3F35C-DB10-0F45-8ED2-C1D42670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9C2B6-F034-5241-AE81-8B9C4D93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84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A741A-6910-DC45-A6A3-84C11116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FC0B08-6413-BA4E-8184-5702DCB4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65FEF-483B-394C-933E-318CB6F9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2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D883C-408A-8D49-B65E-25B9A8F6C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D2B46-FDED-DC4D-AF32-DE77E3AF9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14B69-77A7-C147-B0BA-B871A6D58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C7B83-1685-EF44-B838-B92522DF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524CC-6259-E246-9B7E-DF56155C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38443-F2EF-4342-B3B4-6AAF9ACC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1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AE12-F925-FF4B-A260-620F6694C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AD4BF2-92A0-4D4E-BBE1-9F6FF40BD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B5465-9423-9641-8853-B0288C3C2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0E44D-CC86-1046-8E0A-246F0397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2ED88-B762-FC4C-B85F-550DB833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45E93-03E2-9D49-805B-60EDBED9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63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C795F-2837-1447-8A0B-876BAE13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59B81-EB1F-E64F-8B73-4D2ABA098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96C20-3DA4-CE43-93B0-E10E947E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97F16-CEB0-F44E-AAAA-0B7B6744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F8742-F053-F749-8B33-5DCBE2E6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37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5F68D4-922F-D447-B00F-2AA7D8546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83C0C-1656-2141-B2CD-0347C82D0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2E2E3-26B0-4844-9AD2-794FFE89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7F45F-0AA5-2B43-9DEE-9A217C3B8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980CB-AF5B-8341-AB0D-401A7277E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0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83F84-F115-6544-B4A8-7B5D9664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BE917-E612-B049-9BF8-8459E5901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24D4C-6DC8-404F-BCED-8902001B1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551-6088-0A43-9648-32A896B080A5}" type="datetimeFigureOut">
              <a:rPr lang="en-US" smtClean="0"/>
              <a:t>8/1/20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DB9E3-092C-6640-B76B-EF10BBE10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CE87E-4738-7144-BF2E-A7A85BFC7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0A8A9-9AE3-794D-BDBA-366E0B61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4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128009"/>
            <a:ext cx="7011986" cy="400087"/>
          </a:xfrm>
          <a:prstGeom prst="rect">
            <a:avLst/>
          </a:prstGeom>
          <a:solidFill>
            <a:srgbClr val="002060"/>
          </a:solidFill>
        </p:spPr>
        <p:txBody>
          <a:bodyPr wrap="square" lIns="121899" tIns="60949" rIns="121899" bIns="60949" rtlCol="0">
            <a:spAutoFit/>
          </a:bodyPr>
          <a:lstStyle/>
          <a:p>
            <a:pPr>
              <a:tabLst>
                <a:tab pos="1147033" algn="l"/>
              </a:tabLst>
            </a:pPr>
            <a:endParaRPr lang="en-US" dirty="0"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88" y="1030514"/>
            <a:ext cx="492400" cy="2202804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vert270" wrap="square" lIns="121899" tIns="60949" rIns="121899" bIns="60949" rtlCol="0">
            <a:spAutoFit/>
          </a:bodyPr>
          <a:lstStyle/>
          <a:p>
            <a:pPr algn="ctr">
              <a:tabLst>
                <a:tab pos="1147033" algn="l"/>
              </a:tabLst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8" y="3186844"/>
            <a:ext cx="492400" cy="318470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vert270" wrap="square" lIns="121899" tIns="60949" rIns="121899" bIns="60949" rtlCol="0">
            <a:spAutoFit/>
          </a:bodyPr>
          <a:lstStyle/>
          <a:p>
            <a:pPr algn="ctr">
              <a:tabLst>
                <a:tab pos="1147033" algn="l"/>
              </a:tabLst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DELIVERABLES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400684"/>
              </p:ext>
            </p:extLst>
          </p:nvPr>
        </p:nvGraphicFramePr>
        <p:xfrm>
          <a:off x="508502" y="3186843"/>
          <a:ext cx="11623854" cy="369509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963952">
                  <a:extLst>
                    <a:ext uri="{9D8B030D-6E8A-4147-A177-3AD203B41FA5}">
                      <a16:colId xmlns:a16="http://schemas.microsoft.com/office/drawing/2014/main" val="3302486395"/>
                    </a:ext>
                  </a:extLst>
                </a:gridCol>
                <a:gridCol w="2829951">
                  <a:extLst>
                    <a:ext uri="{9D8B030D-6E8A-4147-A177-3AD203B41FA5}">
                      <a16:colId xmlns:a16="http://schemas.microsoft.com/office/drawing/2014/main" val="3500273967"/>
                    </a:ext>
                  </a:extLst>
                </a:gridCol>
                <a:gridCol w="2829951">
                  <a:extLst>
                    <a:ext uri="{9D8B030D-6E8A-4147-A177-3AD203B41FA5}">
                      <a16:colId xmlns:a16="http://schemas.microsoft.com/office/drawing/2014/main" val="840708993"/>
                    </a:ext>
                  </a:extLst>
                </a:gridCol>
              </a:tblGrid>
              <a:tr h="322380">
                <a:tc>
                  <a:txBody>
                    <a:bodyPr/>
                    <a:lstStyle/>
                    <a:p>
                      <a:r>
                        <a:rPr lang="en-US" sz="1600" dirty="0"/>
                        <a:t>Key deliverables for the next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Enter Due 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821550"/>
                  </a:ext>
                </a:extLst>
              </a:tr>
              <a:tr h="322380">
                <a:tc>
                  <a:txBody>
                    <a:bodyPr/>
                    <a:lstStyle/>
                    <a:p>
                      <a:r>
                        <a:rPr lang="en-US" sz="1600" dirty="0"/>
                        <a:t>Align on the work estimation scenarios in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July 5,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Completed</a:t>
                      </a:r>
                    </a:p>
                  </a:txBody>
                  <a:tcPr>
                    <a:solidFill>
                      <a:srgbClr val="D7D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823150"/>
                  </a:ext>
                </a:extLst>
              </a:tr>
              <a:tr h="556837">
                <a:tc>
                  <a:txBody>
                    <a:bodyPr/>
                    <a:lstStyle/>
                    <a:p>
                      <a:r>
                        <a:rPr lang="en-US" sz="1600" dirty="0"/>
                        <a:t>Align on the roles to be considered (data engineer, data scientist,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July 12,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Completed</a:t>
                      </a:r>
                    </a:p>
                  </a:txBody>
                  <a:tcPr>
                    <a:solidFill>
                      <a:srgbClr val="D7D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994203"/>
                  </a:ext>
                </a:extLst>
              </a:tr>
              <a:tr h="791295">
                <a:tc>
                  <a:txBody>
                    <a:bodyPr/>
                    <a:lstStyle/>
                    <a:p>
                      <a:r>
                        <a:rPr lang="en-US" sz="1600" dirty="0"/>
                        <a:t>Collect data/inputs from team and external resource to evaluate the appropriateness of varying staffing models given the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August 2,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 progress</a:t>
                      </a:r>
                    </a:p>
                  </a:txBody>
                  <a:tcPr>
                    <a:solidFill>
                      <a:srgbClr val="D7D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748789"/>
                  </a:ext>
                </a:extLst>
              </a:tr>
              <a:tr h="322380">
                <a:tc>
                  <a:txBody>
                    <a:bodyPr/>
                    <a:lstStyle/>
                    <a:p>
                      <a:r>
                        <a:rPr lang="en-US" sz="1600" dirty="0"/>
                        <a:t>Assess and align on labor efforts and how to scale them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August 16,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D7D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305773"/>
                  </a:ext>
                </a:extLst>
              </a:tr>
              <a:tr h="322380">
                <a:tc>
                  <a:txBody>
                    <a:bodyPr/>
                    <a:lstStyle/>
                    <a:p>
                      <a:r>
                        <a:rPr lang="en-US" sz="1600" dirty="0"/>
                        <a:t>Present a work estimation calculator prototype to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August 30,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D7D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724896"/>
                  </a:ext>
                </a:extLst>
              </a:tr>
              <a:tr h="32238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329757"/>
                  </a:ext>
                </a:extLst>
              </a:tr>
              <a:tr h="32238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889517"/>
                  </a:ext>
                </a:extLst>
              </a:tr>
              <a:tr h="32238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09493" rtl="0" eaLnBrk="1" latinLnBrk="0" hangingPunct="1"/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6252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755188" y="1081910"/>
          <a:ext cx="2362654" cy="208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4112849464"/>
                    </a:ext>
                  </a:extLst>
                </a:gridCol>
                <a:gridCol w="686254">
                  <a:extLst>
                    <a:ext uri="{9D8B030D-6E8A-4147-A177-3AD203B41FA5}">
                      <a16:colId xmlns:a16="http://schemas.microsoft.com/office/drawing/2014/main" val="3396398852"/>
                    </a:ext>
                  </a:extLst>
                </a:gridCol>
              </a:tblGrid>
              <a:tr h="284396">
                <a:tc>
                  <a:txBody>
                    <a:bodyPr/>
                    <a:lstStyle/>
                    <a:p>
                      <a:r>
                        <a:rPr lang="en-US" sz="1200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5331"/>
                  </a:ext>
                </a:extLst>
              </a:tr>
              <a:tr h="284396">
                <a:tc>
                  <a:txBody>
                    <a:bodyPr/>
                    <a:lstStyle/>
                    <a:p>
                      <a:r>
                        <a:rPr lang="en-US" sz="1200" dirty="0"/>
                        <a:t>Charter developed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430283"/>
                  </a:ext>
                </a:extLst>
              </a:tr>
              <a:tr h="473993">
                <a:tc>
                  <a:txBody>
                    <a:bodyPr/>
                    <a:lstStyle/>
                    <a:p>
                      <a:pPr marL="0" marR="0" lvl="0" indent="0" algn="l" defTabSz="6094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Submitting TMO reports 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10590"/>
                  </a:ext>
                </a:extLst>
              </a:tr>
              <a:tr h="284396">
                <a:tc>
                  <a:txBody>
                    <a:bodyPr/>
                    <a:lstStyle/>
                    <a:p>
                      <a:r>
                        <a:rPr lang="en-US" sz="1200" dirty="0"/>
                        <a:t>Deliverables 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33087"/>
                  </a:ext>
                </a:extLst>
              </a:tr>
              <a:tr h="284396">
                <a:tc>
                  <a:txBody>
                    <a:bodyPr/>
                    <a:lstStyle/>
                    <a:p>
                      <a:r>
                        <a:rPr lang="en-US" sz="1200" dirty="0"/>
                        <a:t>Issues raised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91302"/>
                  </a:ext>
                </a:extLst>
              </a:tr>
              <a:tr h="473993">
                <a:tc>
                  <a:txBody>
                    <a:bodyPr/>
                    <a:lstStyle/>
                    <a:p>
                      <a:r>
                        <a:rPr lang="en-US" sz="1200" b="1" dirty="0"/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39904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47788" y="1"/>
            <a:ext cx="5051514" cy="1107973"/>
          </a:xfrm>
          <a:prstGeom prst="rect">
            <a:avLst/>
          </a:prstGeom>
          <a:noFill/>
        </p:spPr>
        <p:txBody>
          <a:bodyPr wrap="square" lIns="121899" tIns="60949" rIns="121899" bIns="60949" rtlCol="0">
            <a:spAutoFit/>
          </a:bodyPr>
          <a:lstStyle/>
          <a:p>
            <a:pPr>
              <a:tabLst>
                <a:tab pos="1147033" algn="l"/>
              </a:tabLst>
            </a:pP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Data Science Strategy Team</a:t>
            </a:r>
          </a:p>
          <a:p>
            <a:pPr>
              <a:tabLst>
                <a:tab pos="1147033" algn="l"/>
              </a:tabLst>
            </a:pP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339371"/>
              </p:ext>
            </p:extLst>
          </p:nvPr>
        </p:nvGraphicFramePr>
        <p:xfrm>
          <a:off x="7011986" y="134180"/>
          <a:ext cx="5105856" cy="82655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35314">
                  <a:extLst>
                    <a:ext uri="{9D8B030D-6E8A-4147-A177-3AD203B41FA5}">
                      <a16:colId xmlns:a16="http://schemas.microsoft.com/office/drawing/2014/main" val="4112849464"/>
                    </a:ext>
                  </a:extLst>
                </a:gridCol>
                <a:gridCol w="3770542">
                  <a:extLst>
                    <a:ext uri="{9D8B030D-6E8A-4147-A177-3AD203B41FA5}">
                      <a16:colId xmlns:a16="http://schemas.microsoft.com/office/drawing/2014/main" val="3396398852"/>
                    </a:ext>
                  </a:extLst>
                </a:gridCol>
              </a:tblGrid>
              <a:tr h="299457">
                <a:tc>
                  <a:txBody>
                    <a:bodyPr/>
                    <a:lstStyle/>
                    <a:p>
                      <a:r>
                        <a:rPr lang="en-US" sz="1200" dirty="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 Narrow" panose="020B0606020202030204" pitchFamily="34" charset="0"/>
                        </a:rPr>
                        <a:t>Jeanette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5331"/>
                  </a:ext>
                </a:extLst>
              </a:tr>
              <a:tr h="527100">
                <a:tc>
                  <a:txBody>
                    <a:bodyPr/>
                    <a:lstStyle/>
                    <a:p>
                      <a:r>
                        <a:rPr lang="en-US" sz="1200" dirty="0"/>
                        <a:t>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latin typeface="Arial Narrow" panose="020B0606020202030204" pitchFamily="34" charset="0"/>
                        </a:rPr>
                        <a:t>Team member 1,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43028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93988" y="1030515"/>
            <a:ext cx="9145086" cy="21563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marL="44054" defTabSz="457181">
              <a:spcAft>
                <a:spcPts val="900"/>
              </a:spcAft>
              <a:defRPr/>
            </a:pPr>
            <a:r>
              <a:rPr lang="en-US" sz="1600" dirty="0">
                <a:solidFill>
                  <a:schemeClr val="accent1"/>
                </a:solidFill>
              </a:rPr>
              <a:t>Create a work estimation calculator that is parameterized and can generate precise and reliable work estimates for various projects and roles, ranging from small-scale user stories to large-scale initiatives or components of the initiative.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Understand the work estimation scenarios to be considered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Understand the various roles associated with the identified scenarios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Determine optimal staffing model for a given scenario (e.g., onshore vs. offshore)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Assess the labor efforts associated with each scenario and its subcomponents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Create a parameterized tool to generate work estimations</a:t>
            </a:r>
          </a:p>
        </p:txBody>
      </p:sp>
    </p:spTree>
    <p:extLst>
      <p:ext uri="{BB962C8B-B14F-4D97-AF65-F5344CB8AC3E}">
        <p14:creationId xmlns:p14="http://schemas.microsoft.com/office/powerpoint/2010/main" val="161723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1066"/>
            <a:ext cx="6931343" cy="400087"/>
          </a:xfrm>
          <a:prstGeom prst="rect">
            <a:avLst/>
          </a:prstGeom>
          <a:solidFill>
            <a:srgbClr val="002060"/>
          </a:solidFill>
        </p:spPr>
        <p:txBody>
          <a:bodyPr wrap="square" lIns="121899" tIns="60949" rIns="121899" bIns="60949" rtlCol="0">
            <a:spAutoFit/>
          </a:bodyPr>
          <a:lstStyle/>
          <a:p>
            <a:pPr>
              <a:tabLst>
                <a:tab pos="1147033" algn="l"/>
              </a:tabLst>
            </a:pPr>
            <a:endParaRPr lang="en-US" dirty="0"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88" y="1132112"/>
            <a:ext cx="492400" cy="202342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vert270" wrap="square" lIns="121899" tIns="60949" rIns="121899" bIns="60949" rtlCol="0">
            <a:spAutoFit/>
          </a:bodyPr>
          <a:lstStyle/>
          <a:p>
            <a:pPr algn="ctr">
              <a:tabLst>
                <a:tab pos="1147033" algn="l"/>
              </a:tabLst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KEY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8" y="3323774"/>
            <a:ext cx="492400" cy="296672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vert270" wrap="square" lIns="121899" tIns="60949" rIns="121899" bIns="60949" rtlCol="0">
            <a:spAutoFit/>
          </a:bodyPr>
          <a:lstStyle/>
          <a:p>
            <a:pPr algn="ctr">
              <a:tabLst>
                <a:tab pos="1147033" algn="l"/>
              </a:tabLst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RISK / MITIGATION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07097" y="3323774"/>
          <a:ext cx="11594828" cy="29667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797414">
                  <a:extLst>
                    <a:ext uri="{9D8B030D-6E8A-4147-A177-3AD203B41FA5}">
                      <a16:colId xmlns:a16="http://schemas.microsoft.com/office/drawing/2014/main" val="3302486395"/>
                    </a:ext>
                  </a:extLst>
                </a:gridCol>
                <a:gridCol w="5797414">
                  <a:extLst>
                    <a:ext uri="{9D8B030D-6E8A-4147-A177-3AD203B41FA5}">
                      <a16:colId xmlns:a16="http://schemas.microsoft.com/office/drawing/2014/main" val="2974613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Enter known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Enter Mitigation Plan 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82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Difficulty in generating precise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 proxies as much as possible and interview external business and IT partners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809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6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3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707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52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40162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959310"/>
              </p:ext>
            </p:extLst>
          </p:nvPr>
        </p:nvGraphicFramePr>
        <p:xfrm>
          <a:off x="6931343" y="127874"/>
          <a:ext cx="5105856" cy="82655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35314">
                  <a:extLst>
                    <a:ext uri="{9D8B030D-6E8A-4147-A177-3AD203B41FA5}">
                      <a16:colId xmlns:a16="http://schemas.microsoft.com/office/drawing/2014/main" val="4112849464"/>
                    </a:ext>
                  </a:extLst>
                </a:gridCol>
                <a:gridCol w="3770542">
                  <a:extLst>
                    <a:ext uri="{9D8B030D-6E8A-4147-A177-3AD203B41FA5}">
                      <a16:colId xmlns:a16="http://schemas.microsoft.com/office/drawing/2014/main" val="3396398852"/>
                    </a:ext>
                  </a:extLst>
                </a:gridCol>
              </a:tblGrid>
              <a:tr h="299457">
                <a:tc>
                  <a:txBody>
                    <a:bodyPr/>
                    <a:lstStyle/>
                    <a:p>
                      <a:r>
                        <a:rPr lang="en-US" sz="1200" dirty="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 Narrow" panose="020B0606020202030204" pitchFamily="34" charset="0"/>
                        </a:rPr>
                        <a:t>Jeanette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5331"/>
                  </a:ext>
                </a:extLst>
              </a:tr>
              <a:tr h="527100">
                <a:tc>
                  <a:txBody>
                    <a:bodyPr/>
                    <a:lstStyle/>
                    <a:p>
                      <a:r>
                        <a:rPr lang="en-US" sz="1200" dirty="0"/>
                        <a:t>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latin typeface="Arial Narrow" panose="020B0606020202030204" pitchFamily="34" charset="0"/>
                        </a:rPr>
                        <a:t>Team member 1,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43028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186311"/>
              </p:ext>
            </p:extLst>
          </p:nvPr>
        </p:nvGraphicFramePr>
        <p:xfrm>
          <a:off x="493989" y="1141284"/>
          <a:ext cx="5792287" cy="199973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555856">
                  <a:extLst>
                    <a:ext uri="{9D8B030D-6E8A-4147-A177-3AD203B41FA5}">
                      <a16:colId xmlns:a16="http://schemas.microsoft.com/office/drawing/2014/main" val="3120244725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488843709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885123140"/>
                    </a:ext>
                  </a:extLst>
                </a:gridCol>
                <a:gridCol w="1264631">
                  <a:extLst>
                    <a:ext uri="{9D8B030D-6E8A-4147-A177-3AD203B41FA5}">
                      <a16:colId xmlns:a16="http://schemas.microsoft.com/office/drawing/2014/main" val="1718478549"/>
                    </a:ext>
                  </a:extLst>
                </a:gridCol>
              </a:tblGrid>
              <a:tr h="547493"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%FTE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TIMING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822042"/>
                  </a:ext>
                </a:extLst>
              </a:tr>
              <a:tr h="1452241">
                <a:tc>
                  <a:txBody>
                    <a:bodyPr/>
                    <a:lstStyle/>
                    <a:p>
                      <a:r>
                        <a:rPr lang="en-US" sz="1100" dirty="0"/>
                        <a:t>Jeanette</a:t>
                      </a:r>
                    </a:p>
                    <a:p>
                      <a:r>
                        <a:rPr lang="en-US" sz="1100" dirty="0"/>
                        <a:t>Team member 2</a:t>
                      </a:r>
                    </a:p>
                    <a:p>
                      <a:r>
                        <a:rPr lang="en-US" sz="1100" dirty="0"/>
                        <a:t>Team member 3</a:t>
                      </a:r>
                    </a:p>
                    <a:p>
                      <a:r>
                        <a:rPr lang="en-US" sz="1100" dirty="0"/>
                        <a:t>Team member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Lead</a:t>
                      </a:r>
                    </a:p>
                    <a:p>
                      <a:r>
                        <a:rPr lang="en-US" sz="1100" dirty="0"/>
                        <a:t>SME</a:t>
                      </a:r>
                    </a:p>
                    <a:p>
                      <a:r>
                        <a:rPr lang="en-US" sz="1100" dirty="0"/>
                        <a:t>SME</a:t>
                      </a:r>
                    </a:p>
                    <a:p>
                      <a:r>
                        <a:rPr lang="en-US" sz="1100" dirty="0"/>
                        <a:t>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0.25</a:t>
                      </a:r>
                    </a:p>
                    <a:p>
                      <a:r>
                        <a:rPr lang="en-US" sz="1100" dirty="0"/>
                        <a:t>0.15</a:t>
                      </a:r>
                    </a:p>
                    <a:p>
                      <a:r>
                        <a:rPr lang="en-US" sz="1100" dirty="0"/>
                        <a:t>0.15</a:t>
                      </a:r>
                    </a:p>
                    <a:p>
                      <a:r>
                        <a:rPr lang="en-US" sz="1100" dirty="0"/>
                        <a:t>0.15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 weeks</a:t>
                      </a:r>
                    </a:p>
                    <a:p>
                      <a:r>
                        <a:rPr lang="en-US" sz="1100" dirty="0"/>
                        <a:t>9 weeks</a:t>
                      </a:r>
                    </a:p>
                    <a:p>
                      <a:r>
                        <a:rPr lang="en-US" sz="1100" dirty="0"/>
                        <a:t>9 weeks</a:t>
                      </a:r>
                    </a:p>
                    <a:p>
                      <a:r>
                        <a:rPr lang="en-US" sz="1100" dirty="0"/>
                        <a:t>9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30445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9917" y="1134026"/>
            <a:ext cx="492400" cy="2021506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vert270" wrap="square" lIns="121899" tIns="60949" rIns="121899" bIns="60949" rtlCol="0">
            <a:spAutoFit/>
          </a:bodyPr>
          <a:lstStyle/>
          <a:p>
            <a:pPr algn="ctr">
              <a:tabLst>
                <a:tab pos="1147033" algn="l"/>
              </a:tabLst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INTERDEPENDENCIES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2317" y="1141284"/>
            <a:ext cx="5134882" cy="1999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788" y="1"/>
            <a:ext cx="5051514" cy="615531"/>
          </a:xfrm>
          <a:prstGeom prst="rect">
            <a:avLst/>
          </a:prstGeom>
          <a:noFill/>
        </p:spPr>
        <p:txBody>
          <a:bodyPr wrap="square" lIns="121899" tIns="60949" rIns="121899" bIns="60949" rtlCol="0">
            <a:spAutoFit/>
          </a:bodyPr>
          <a:lstStyle/>
          <a:p>
            <a:pPr>
              <a:tabLst>
                <a:tab pos="1147033" algn="l"/>
              </a:tabLst>
            </a:pP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Data Science Strategy Team</a:t>
            </a:r>
          </a:p>
        </p:txBody>
      </p:sp>
    </p:spTree>
    <p:extLst>
      <p:ext uri="{BB962C8B-B14F-4D97-AF65-F5344CB8AC3E}">
        <p14:creationId xmlns:p14="http://schemas.microsoft.com/office/powerpoint/2010/main" val="1904115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297</Words>
  <Application>Microsoft Macintosh PowerPoint</Application>
  <PresentationFormat>Widescreen</PresentationFormat>
  <Paragraphs>69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</cp:revision>
  <dcterms:created xsi:type="dcterms:W3CDTF">2020-08-01T14:45:23Z</dcterms:created>
  <dcterms:modified xsi:type="dcterms:W3CDTF">2020-08-01T14:50:32Z</dcterms:modified>
</cp:coreProperties>
</file>